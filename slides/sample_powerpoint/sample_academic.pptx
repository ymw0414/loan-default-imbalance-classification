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F3A68"/>
                </a:solidFill>
              </a:rPr>
              <a:t>Loan Default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4A4A4A"/>
                </a:solidFill>
              </a:rPr>
              <a:t>Comparing Classic ML and Neural Networks under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</a:rPr>
              <a:t>Minwoo Yoo  ·  Nathan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Home Credit Default Risk · Kaggle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Minwoo ·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The task</a:t>
            </a:r>
          </a:p>
          <a:p>
            <a:pPr/>
            <a:r>
              <a:rPr sz="1400" b="0"/>
              <a:t>• Predict the probability that a loan applicant defaults  (binary, TARGET ∈ {0, 1}).</a:t>
            </a:r>
          </a:p>
          <a:p>
            <a:pPr/>
          </a:p>
          <a:p>
            <a:pPr/>
            <a:r>
              <a:rPr sz="1800" b="1">
                <a:solidFill>
                  <a:srgbClr val="1F3A68"/>
                </a:solidFill>
              </a:rPr>
              <a:t>Why class imbalance matters</a:t>
            </a:r>
          </a:p>
          <a:p>
            <a:pPr/>
            <a:r>
              <a:rPr sz="1400" b="0"/>
              <a:t>• Only ~8.07% of applicants default — the data is severely imbalanced.</a:t>
            </a:r>
          </a:p>
          <a:p>
            <a:pPr/>
            <a:r>
              <a:rPr sz="1400" b="0"/>
              <a:t>• A "predict-no-default" baseline scores 92% accuracy with zero recall.</a:t>
            </a:r>
          </a:p>
          <a:p>
            <a:pPr/>
            <a:r>
              <a:rPr sz="1400" b="0"/>
              <a:t>• A model can hit ROC AUC = 0.745 yet classify zero defaulters at the 0.5 threshold.</a:t>
            </a:r>
          </a:p>
          <a:p>
            <a:pPr/>
          </a:p>
          <a:p>
            <a:pPr/>
            <a:r>
              <a:rPr sz="1800" b="1">
                <a:solidFill>
                  <a:srgbClr val="1F3A68"/>
                </a:solidFill>
              </a:rPr>
              <a:t>Research question</a:t>
            </a:r>
          </a:p>
          <a:p>
            <a:pPr/>
            <a:r>
              <a:rPr sz="1500" b="0">
                <a:solidFill>
                  <a:srgbClr val="2E86C1"/>
                </a:solidFill>
              </a:rPr>
              <a:t>• Do classic shallow learners and neural networks respond differently to class imbalance handling?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Dataset · Home Credit Default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Minwoo ·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</a:rPr>
              <a:t>Size</a:t>
            </a:r>
          </a:p>
          <a:p>
            <a:pPr/>
            <a:r>
              <a:rPr sz="1300" b="0"/>
              <a:t>• Train: 307,511 applicants × 122 features.</a:t>
            </a:r>
          </a:p>
          <a:p>
            <a:pPr/>
            <a:r>
              <a:rPr sz="1300" b="0"/>
              <a:t>• Test: 48,744 applicants (Kaggle hidden labels).</a:t>
            </a:r>
          </a:p>
          <a:p>
            <a:pPr/>
          </a:p>
          <a:p>
            <a:pPr/>
            <a:r>
              <a:rPr sz="1700" b="1">
                <a:solidFill>
                  <a:srgbClr val="1F3A68"/>
                </a:solidFill>
              </a:rPr>
              <a:t>Class imbalance</a:t>
            </a:r>
          </a:p>
          <a:p>
            <a:pPr/>
            <a:r>
              <a:rPr sz="1300" b="0"/>
              <a:t>• Default rate ≈ 8.07% (24,825 / 307,511).</a:t>
            </a:r>
          </a:p>
          <a:p>
            <a:pPr/>
          </a:p>
          <a:p>
            <a:pPr/>
            <a:r>
              <a:rPr sz="1700" b="1">
                <a:solidFill>
                  <a:srgbClr val="1F3A68"/>
                </a:solidFill>
              </a:rPr>
              <a:t>Strongest signals</a:t>
            </a:r>
          </a:p>
          <a:p>
            <a:pPr/>
            <a:r>
              <a:rPr sz="1300" b="0"/>
              <a:t>• EXT_SOURCE_1/2/3 (external credit scores), |ρ| ≈ 0.16–0.18.</a:t>
            </a:r>
          </a:p>
          <a:p>
            <a:pPr/>
            <a:r>
              <a:rPr sz="1300" b="0"/>
              <a:t>• DAYS_EMPLOYED sentinel 365,243 flags 18% (unemployed).</a:t>
            </a:r>
          </a:p>
          <a:p>
            <a:pPr/>
            <a:r>
              <a:rPr sz="1300" b="0"/>
              <a:t>• Building-info columns are 50–70% missing.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5303520" cy="2831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Methodology · Shared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Nathan ·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Preprocessing (identical for all five models)</a:t>
            </a:r>
          </a:p>
          <a:p>
            <a:pPr/>
            <a:r>
              <a:rPr sz="1300" b="0"/>
              <a:t>• 80% / 20% stratified train–val split (random_state = 42)</a:t>
            </a:r>
          </a:p>
          <a:p>
            <a:pPr/>
            <a:r>
              <a:rPr sz="1300" b="0"/>
              <a:t>• Drop SK_ID_CURR identifier  ·  keep IDs only for the submission file</a:t>
            </a:r>
          </a:p>
          <a:p>
            <a:pPr/>
            <a:r>
              <a:rPr sz="1300" b="0"/>
              <a:t>• Mean imputation for numeric NaN  ·  one-hot encode 16 categoricals → 244 features</a:t>
            </a:r>
          </a:p>
          <a:p>
            <a:pPr/>
            <a:r>
              <a:rPr sz="1300" b="0"/>
              <a:t>• StandardScaler fitted on train only (essential for LR / MLP)</a:t>
            </a:r>
          </a:p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9167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Tuning &amp; validation</a:t>
            </a:r>
          </a:p>
          <a:p>
            <a:pPr/>
            <a:r>
              <a:rPr sz="1300" b="0"/>
              <a:t>• GridSearchCV with PredefinedSplit (single train→val fold, no random k-fold)</a:t>
            </a:r>
          </a:p>
          <a:p>
            <a:pPr/>
            <a:r>
              <a:rPr sz="1300" b="0"/>
              <a:t>• Scoring: roc_auc  ·  best parameter setting picked per model</a:t>
            </a:r>
          </a:p>
          <a:p>
            <a:pPr/>
            <a:r>
              <a:rPr sz="1300" b="0"/>
              <a:t>• CV CSVs written to result/home_credit/cv_results/GridSearchCV/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Five Models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Nathan · 1.5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1280160"/>
                <a:gridCol w="4846320"/>
              </a:tblGrid>
              <a:tr h="4267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Tuned hyperparameters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C, tol  ·  class_weight = balanced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Tree (bagging)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n_estimators, min_samples_*  ·  class_weight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Tree (boosting)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learning_rate, max_iter, min_samples_leaf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Shallow MLP — hidden (64,)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Minwoo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alpha, learning_rate_init  ·  early stopping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Deep MLP — hidden (128, 64, 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Minwoo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alpha, learning_rate_init  ·  early stopping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</a:rPr>
              <a:t>Why this lineup?</a:t>
            </a:r>
          </a:p>
          <a:p>
            <a:pPr/>
            <a:r>
              <a:rPr sz="1300" b="0"/>
              <a:t>• Spans the course curriculum: linear → tree (bagging + boosting) → shallow + deep neural networks.</a:t>
            </a:r>
          </a:p>
          <a:p>
            <a:pPr/>
            <a:r>
              <a:rPr sz="1300" b="0"/>
              <a:t>• Lets us isolate whether NN behaves differently from classic shallow learners under imbalance.</a:t>
            </a:r>
          </a:p>
          <a:p>
            <a:pPr/>
          </a:p>
          <a:p>
            <a:pPr/>
            <a:r>
              <a:rPr sz="1300" b="1">
                <a:solidFill>
                  <a:srgbClr val="2E86C1"/>
                </a:solidFill>
              </a:rPr>
              <a:t>• Same preprocessing, same train/val split, same scoring → fair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Combined Validation ROC AUC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Nathan · 1 min</a:t>
            </a:r>
          </a:p>
        </p:txBody>
      </p:sp>
      <p:pic>
        <p:nvPicPr>
          <p:cNvPr id="4" name="Picture 3" descr="model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949440" cy="364289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0" y="1280160"/>
          <a:ext cx="4297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HistGradBoost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0.7595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0.7487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Deep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Shallow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</a:rPr>
              <a:t>Best model: HistGradBoost (Nathan)  (val ROC AUC = 0.7595)</a:t>
            </a:r>
          </a:p>
          <a:p>
            <a:pPr/>
            <a:r>
              <a:rPr sz="1300" b="0"/>
              <a:t>• Tree boosting wins by ~1 AUC point — consistent with the literature on tabular credit data.</a:t>
            </a:r>
          </a:p>
          <a:p>
            <a:pPr/>
            <a:r>
              <a:rPr sz="1300" b="0"/>
              <a:t>• Neural networks tie LR and Random Forest; depth alone does not unlock new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Neural Network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Minwoo · 1.5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</a:rPr>
              <a:t>Findings</a:t>
            </a:r>
          </a:p>
          <a:p>
            <a:pPr/>
            <a:r>
              <a:rPr sz="1300" b="0"/>
              <a:t>• Shallow 0.7405  vs  Deep 0.7416  → depth adds ~0.001 AUC (noise).</a:t>
            </a:r>
          </a:p>
          <a:p>
            <a:pPr/>
            <a:r>
              <a:rPr sz="1300" b="0"/>
              <a:t>• NN ranks 4th/5th overall; bottleneck is the feature set, not the model.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280160"/>
          <a:ext cx="4206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097280"/>
              </a:tblGrid>
              <a:tr h="4267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Hidden layers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Val AUC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Shallow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(64,)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0.7405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Deep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(128, 64, 32)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Imbalance Handling on the Best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Minwoo · 1.5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6858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914400"/>
                <a:gridCol w="1005840"/>
                <a:gridCol w="914400"/>
                <a:gridCol w="1005840"/>
              </a:tblGrid>
              <a:tr h="3886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ROC_AUC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PR_AUC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/>
                        <a:t>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0.1813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0.2986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balanc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0"/>
            <a:ext cx="6766560" cy="33051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09728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</a:rPr>
              <a:t>Headline finding</a:t>
            </a:r>
          </a:p>
          <a:p>
            <a:pPr/>
          </a:p>
          <a:p>
            <a:pPr/>
            <a:r>
              <a:rPr sz="1200" b="0"/>
              <a:t>• Baseline: AUC 0.745, recall 0% (no prediction crosses 0.5)</a:t>
            </a:r>
          </a:p>
          <a:p>
            <a:pPr/>
            <a:r>
              <a:rPr sz="1200" b="0">
                <a:solidFill>
                  <a:srgbClr val="C0392B"/>
                </a:solidFill>
              </a:rPr>
              <a:t>• SMOTE hurt: AUC 0.745 → 0.648</a:t>
            </a:r>
          </a:p>
          <a:p>
            <a:pPr/>
            <a:r>
              <a:rPr sz="1200" b="1">
                <a:solidFill>
                  <a:srgbClr val="2E86C1"/>
                </a:solidFill>
              </a:rPr>
              <a:t>• Threshold tuning at 0.164: recall 40%, F1 0.30 ✓</a:t>
            </a:r>
          </a:p>
          <a:p>
            <a:pPr/>
          </a:p>
          <a:p>
            <a:pPr/>
            <a:r>
              <a:rPr sz="1300" b="1">
                <a:solidFill>
                  <a:srgbClr val="1F3A68"/>
                </a:solidFill>
              </a:rPr>
              <a:t>• Choosing the threshold matters more than rebalancing the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Both ·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Future work</a:t>
            </a:r>
          </a:p>
          <a:p>
            <a:pPr/>
          </a:p>
          <a:p>
            <a:pPr/>
            <a:r>
              <a:rPr sz="1300" b="0"/>
              <a:t>• Integrate auxiliary tables  ·  ensemble HGBC + best MLP  ·  Platt/isotonic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📍 Both · 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F3A68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</a:rPr>
              <a:t>Code</a:t>
            </a:r>
          </a:p>
          <a:p>
            <a:pPr/>
          </a:p>
          <a:p>
            <a:pPr/>
            <a:r>
              <a:rPr sz="1400" b="0"/>
              <a:t>• github.com/ymw0414/loan-default-imbalance-classification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