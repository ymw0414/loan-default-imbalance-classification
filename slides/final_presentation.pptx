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400" b="1">
                <a:solidFill>
                  <a:srgbClr val="1F3A68"/>
                </a:solidFill>
              </a:rPr>
              <a:t>Loan Default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0175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>
                <a:solidFill>
                  <a:srgbClr val="555555"/>
                </a:solidFill>
              </a:rPr>
              <a:t>Comparing Classic ML and Neural Networks under Class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</a:rPr>
              <a:t>Minwoo Yoo  |  Nathan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Home Credit Default Risk · Kaggle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Problem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</a:rPr>
              <a:t>Goal</a:t>
            </a:r>
          </a:p>
          <a:p>
            <a:pPr/>
            <a:r>
              <a:rPr sz="1600" b="0"/>
              <a:t>• Predict the probability that a loan applicant defaults on their loan (binary, TARGET ∈ {0, 1}).</a:t>
            </a:r>
          </a:p>
          <a:p>
            <a:pPr/>
          </a:p>
          <a:p>
            <a:pPr/>
            <a:r>
              <a:rPr sz="2000" b="1">
                <a:solidFill>
                  <a:srgbClr val="1F3A68"/>
                </a:solidFill>
              </a:rPr>
              <a:t>Why it matters</a:t>
            </a:r>
          </a:p>
          <a:p>
            <a:pPr/>
            <a:r>
              <a:rPr sz="1600" b="0"/>
              <a:t>• Lenders need accurate risk scoring to balance approval volume and credit losses.</a:t>
            </a:r>
          </a:p>
          <a:p>
            <a:pPr/>
            <a:r>
              <a:rPr sz="1600" b="0"/>
              <a:t>• Defaults are rare (~8% in this dataset) — the data is severely imbalanced.</a:t>
            </a:r>
          </a:p>
          <a:p>
            <a:pPr/>
            <a:r>
              <a:rPr sz="1600" b="0"/>
              <a:t>• A naive "always predict no default" model achieves 92% accuracy yet zero recall.</a:t>
            </a:r>
          </a:p>
          <a:p>
            <a:pPr/>
          </a:p>
          <a:p>
            <a:pPr/>
            <a:r>
              <a:rPr sz="2000" b="1">
                <a:solidFill>
                  <a:srgbClr val="1F3A68"/>
                </a:solidFill>
              </a:rPr>
              <a:t>Imbalance is the central challenge</a:t>
            </a:r>
          </a:p>
          <a:p>
            <a:pPr/>
            <a:r>
              <a:rPr sz="1600" b="0"/>
              <a:t>• Standard classifiers can be biased toward the majority class.</a:t>
            </a:r>
          </a:p>
          <a:p>
            <a:pPr/>
            <a:r>
              <a:rPr sz="1600" b="0"/>
              <a:t>• How models respond to imbalance handling techniques is the focus of this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Dataset · Home Credit Default Risk (Kaggle)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6035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</a:rPr>
              <a:t>Size</a:t>
            </a:r>
          </a:p>
          <a:p>
            <a:pPr/>
            <a:r>
              <a:rPr sz="1400" b="0"/>
              <a:t>• Train: 307,511 applicants × 122 features</a:t>
            </a:r>
          </a:p>
          <a:p>
            <a:pPr/>
            <a:r>
              <a:rPr sz="1400" b="0"/>
              <a:t>• Test: 48,744 applicants (labels held out by Kaggle)</a:t>
            </a:r>
          </a:p>
          <a:p>
            <a:pPr/>
          </a:p>
          <a:p>
            <a:pPr/>
            <a:r>
              <a:rPr sz="2000" b="1">
                <a:solidFill>
                  <a:srgbClr val="1F3A68"/>
                </a:solidFill>
              </a:rPr>
              <a:t>Severe class imbalance</a:t>
            </a:r>
          </a:p>
          <a:p>
            <a:pPr/>
            <a:r>
              <a:rPr sz="1400" b="0"/>
              <a:t>• Default rate ≈ 8.07% (24,825 / 307,511).</a:t>
            </a:r>
          </a:p>
          <a:p>
            <a:pPr/>
            <a:r>
              <a:rPr sz="1400" b="0"/>
              <a:t>• Naive "all-zero" model = 92% accuracy / 0 recall.</a:t>
            </a:r>
          </a:p>
          <a:p>
            <a:pPr/>
          </a:p>
          <a:p>
            <a:pPr/>
            <a:r>
              <a:rPr sz="2000" b="1">
                <a:solidFill>
                  <a:srgbClr val="1F3A68"/>
                </a:solidFill>
              </a:rPr>
              <a:t>Key feature signals</a:t>
            </a:r>
          </a:p>
          <a:p>
            <a:pPr/>
            <a:r>
              <a:rPr sz="1400" b="0"/>
              <a:t>• EXT_SOURCE_1/2/3 (external credit scores) are the strongest predictors (|ρ| ≈ 0.16–0.18).</a:t>
            </a:r>
          </a:p>
          <a:p>
            <a:pPr/>
            <a:r>
              <a:rPr sz="1400" b="0"/>
              <a:t>• DAYS_EMPLOYED sentinel 365,243 flags 18% (unemployed).</a:t>
            </a:r>
          </a:p>
          <a:p>
            <a:pPr/>
            <a:r>
              <a:rPr sz="1400" b="0"/>
              <a:t>• Building-info columns are 50–70% missing.</a:t>
            </a:r>
          </a:p>
        </p:txBody>
      </p:sp>
      <p:pic>
        <p:nvPicPr>
          <p:cNvPr id="4" name="Picture 3" descr="cla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28800"/>
            <a:ext cx="5212080" cy="27824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16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Do classic shallow models and neural networks respond differently to class imbalance handling techniques?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110916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86C1"/>
                </a:solidFill>
              </a:rPr>
              <a:t>Two-axis study</a:t>
            </a:r>
          </a:p>
          <a:p>
            <a:pPr/>
            <a:r>
              <a:rPr sz="1600" b="0"/>
              <a:t>• Five model families: Logistic Regression, Random Forest, HistGradientBoosting, Shallow MLP, Deep MLP.</a:t>
            </a:r>
          </a:p>
          <a:p>
            <a:pPr/>
            <a:r>
              <a:rPr sz="1600" b="0"/>
              <a:t>• Imbalance handling: baseline · class_weight=balanced · SMOTE · threshold tuning.</a:t>
            </a:r>
          </a:p>
          <a:p>
            <a:pPr/>
            <a:r>
              <a:rPr sz="1600" b="0"/>
              <a:t>• Validation: 80/20 stratified split + GridSearchCV with PredefinedSplit; primary metric ROC AUC.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Methodology · Shared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</a:rPr>
              <a:t>Preprocessing (identical for all models)</a:t>
            </a:r>
          </a:p>
          <a:p>
            <a:pPr/>
            <a:r>
              <a:rPr sz="1600" b="0"/>
              <a:t>• 80% / 20% stratified train–val split (random_state=42).</a:t>
            </a:r>
          </a:p>
          <a:p>
            <a:pPr/>
            <a:r>
              <a:rPr sz="1600" b="0"/>
              <a:t>• Drop SK_ID_CURR; keep IDs only for the submission file.</a:t>
            </a:r>
          </a:p>
          <a:p>
            <a:pPr/>
            <a:r>
              <a:rPr sz="1600" b="0"/>
              <a:t>• Mean imputation for numeric NaN; categorical NaN → all-zero dummy block.</a:t>
            </a:r>
          </a:p>
          <a:p>
            <a:pPr/>
            <a:r>
              <a:rPr sz="1600" b="0"/>
              <a:t>• One-hot encoding for 16 categorical columns (244 features after encoding).</a:t>
            </a:r>
          </a:p>
          <a:p>
            <a:pPr/>
            <a:r>
              <a:rPr sz="1600" b="0"/>
              <a:t>• StandardScaler fitted on train only (essential for LR / MLP).</a:t>
            </a:r>
          </a:p>
          <a:p>
            <a:pPr/>
          </a:p>
          <a:p>
            <a:pPr/>
            <a:r>
              <a:rPr sz="2000" b="1">
                <a:solidFill>
                  <a:srgbClr val="1F3A68"/>
                </a:solidFill>
              </a:rPr>
              <a:t>Hyperparameter tuning</a:t>
            </a:r>
          </a:p>
          <a:p>
            <a:pPr/>
            <a:r>
              <a:rPr sz="1600" b="0"/>
              <a:t>• GridSearchCV with sklearn PredefinedSplit (single train→val fold, no random k-fold).</a:t>
            </a:r>
          </a:p>
          <a:p>
            <a:pPr/>
            <a:r>
              <a:rPr sz="1600" b="0"/>
              <a:t>• Scoring: roc_auc.</a:t>
            </a:r>
          </a:p>
          <a:p>
            <a:pPr/>
            <a:r>
              <a:rPr sz="1600" b="0"/>
              <a:t>• Each model picks the highest-AUC parameter setting; results saved to result/home_credit/cv_results/.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Five Model Families Compared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1280160"/>
                <a:gridCol w="4480560"/>
              </a:tblGrid>
              <a:tr h="5334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Tuned hyperparameters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Linear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C, tol; class_weight=balanced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Tree (bagging)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n_estimators, min_samples_*; class_weight=balanced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/>
                        <a:t>HistGradientBoosting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Tree (boosting)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learning_rate, max_iter, min_samples_leaf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/>
                        <a:t>Shallow MLP — hidden (64,)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Neural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Minwoo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alpha, learning_rate_init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/>
                        <a:t>Deep MLP — hidden (128,64,32)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Neural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Minwoo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alpha, learning_rate_init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</a:rPr>
              <a:t>Why this mix?</a:t>
            </a:r>
          </a:p>
          <a:p>
            <a:pPr/>
            <a:r>
              <a:rPr sz="1400" b="0"/>
              <a:t>• Spans the course curriculum: linear → tree (bagging + boosting) → neural networks (shallow + deep).</a:t>
            </a:r>
          </a:p>
          <a:p>
            <a:pPr/>
            <a:r>
              <a:rPr sz="1400" b="0"/>
              <a:t>• Lets us isolate whether NN behaves differently from classic shallow learners under imbalance.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Results · Combined Validation AUC</a:t>
            </a:r>
          </a:p>
        </p:txBody>
      </p:sp>
      <p:pic>
        <p:nvPicPr>
          <p:cNvPr id="3" name="Picture 2" descr="model_au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949440" cy="3642893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589520" y="1280160"/>
          <a:ext cx="4297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54480"/>
              </a:tblGrid>
              <a:tr h="4572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HistGradBoost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0.7595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0.7487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0.7470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Deep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0.7416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/>
                        <a:t>Shallow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0.7405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</a:rPr>
              <a:t>Best model: HistGradBoost (Nathan)  (val ROC AUC = 0.7595)</a:t>
            </a:r>
          </a:p>
          <a:p>
            <a:pPr/>
            <a:r>
              <a:rPr sz="1400" b="0"/>
              <a:t>• Tree boosting (HGBC) is competitive on tabular credit data, in line with the literature.</a:t>
            </a:r>
          </a:p>
          <a:p>
            <a:pPr/>
            <a:r>
              <a:rPr sz="1400" b="0"/>
              <a:t>• Neural networks reach a similar regime once features are scaled and regularized.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Imbalance Handling on the Best MLP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332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1371600"/>
                <a:gridCol w="1371600"/>
                <a:gridCol w="1463040"/>
                <a:gridCol w="1371600"/>
                <a:gridCol w="2103120"/>
              </a:tblGrid>
              <a:tr h="41148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ROC_AUC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PR_AUC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2E86C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SMOTE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0.1813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0.4004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0.2986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imbalanc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926080"/>
            <a:ext cx="6766560" cy="33051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292608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</a:rPr>
              <a:t>Three handling strategies</a:t>
            </a:r>
          </a:p>
          <a:p>
            <a:pPr/>
            <a:r>
              <a:rPr sz="1200" b="0"/>
              <a:t>• Baseline — original 8/92 split, classify at 0.5.</a:t>
            </a:r>
          </a:p>
          <a:p>
            <a:pPr/>
            <a:r>
              <a:rPr sz="1200" b="0"/>
              <a:t>• SMOTE — oversample minority to 50/50 (train only).</a:t>
            </a:r>
          </a:p>
          <a:p>
            <a:pPr/>
            <a:r>
              <a:rPr sz="1200" b="0"/>
              <a:t>• Threshold tuning — pick the threshold maximizing F1 on val.</a:t>
            </a:r>
          </a:p>
          <a:p>
            <a:pPr/>
          </a:p>
          <a:p>
            <a:pPr/>
            <a:r>
              <a:rPr sz="1600" b="1">
                <a:solidFill>
                  <a:srgbClr val="1F3A68"/>
                </a:solidFill>
              </a:rPr>
              <a:t>Reading the chart</a:t>
            </a:r>
          </a:p>
          <a:p>
            <a:pPr/>
            <a:r>
              <a:rPr sz="1200" b="0"/>
              <a:t>• Threshold tuning swaps precision for recall.</a:t>
            </a:r>
          </a:p>
          <a:p>
            <a:pPr/>
            <a:r>
              <a:rPr sz="1200" b="0"/>
              <a:t>• SMOTE typically lifts recall but can hurt precision.</a:t>
            </a:r>
          </a:p>
          <a:p>
            <a:pPr/>
            <a:r>
              <a:rPr sz="1200" b="0"/>
              <a:t>• ROC AUC barely moves — the model already produces a good ranking.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9167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</a:rPr>
              <a:t>What we learned</a:t>
            </a:r>
          </a:p>
          <a:p>
            <a:pPr/>
            <a:r>
              <a:rPr sz="1500" b="0"/>
              <a:t>• Best model: HistGradBoost (Nathan) at val ROC AUC = 0.7595; tree boosting wins by about 1 AUC point.</a:t>
            </a:r>
          </a:p>
          <a:p>
            <a:pPr/>
            <a:r>
              <a:rPr sz="1500" b="0"/>
              <a:t>• Neural networks tie Logistic Regression and Random Forest — bottleneck is the feature set, not the model.</a:t>
            </a:r>
          </a:p>
          <a:p>
            <a:pPr/>
            <a:r>
              <a:rPr sz="1500" b="0"/>
              <a:t>• Shallow MLP (0.7405) ≈ Deep MLP (0.7416): going deeper does not help on this tabular data.</a:t>
            </a:r>
          </a:p>
          <a:p>
            <a:pPr/>
            <a:r>
              <a:rPr sz="1500" b="1"/>
              <a:t>• Most actionable finding: at 0.5 threshold the MLP has zero recall — *choosing the threshold matters more than resampling.*</a:t>
            </a:r>
          </a:p>
          <a:p>
            <a:pPr/>
            <a:r>
              <a:rPr sz="1500" b="0"/>
              <a:t>• SMOTE actually hurt this MLP (AUC 0.745 → 0.648); threshold tuning preserved AUC and lifted recall to 40 %.</a:t>
            </a:r>
          </a:p>
          <a:p>
            <a:pPr/>
          </a:p>
          <a:p>
            <a:pPr/>
            <a:r>
              <a:rPr sz="2000" b="1">
                <a:solidFill>
                  <a:srgbClr val="1F3A68"/>
                </a:solidFill>
              </a:rPr>
              <a:t>Limitations &amp; future work</a:t>
            </a:r>
          </a:p>
          <a:p>
            <a:pPr/>
            <a:r>
              <a:rPr sz="1400" b="0"/>
              <a:t>• Only the main application_*.csv tables used — auxiliary tables (bureau, previous_application) typically add several AUC points.</a:t>
            </a:r>
          </a:p>
          <a:p>
            <a:pPr/>
            <a:r>
              <a:rPr sz="1400" b="0"/>
              <a:t>• PredefinedSplit is fast but optimistic; k-fold CV would tighten the confidence intervals.</a:t>
            </a:r>
          </a:p>
          <a:p>
            <a:pPr/>
            <a:r>
              <a:rPr sz="1400" b="0"/>
              <a:t>• Next steps: integrate auxiliary tables; ensemble HGBC + best MLP; calibrate probabilities (Platt / isotonic).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1F3A68"/>
                </a:solidFill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916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86C1"/>
                </a:solidFill>
              </a:rPr>
              <a:t>Recording link</a:t>
            </a:r>
          </a:p>
          <a:p>
            <a:pPr/>
            <a:r>
              <a:rPr sz="1600" b="0"/>
              <a:t>• &lt;&lt;INSERT RECORDING LINK BEFORE SUBMISSION&gt;&gt;</a:t>
            </a:r>
          </a:p>
          <a:p>
            <a:pPr/>
          </a:p>
          <a:p>
            <a:pPr/>
            <a:r>
              <a:rPr sz="2000" b="1">
                <a:solidFill>
                  <a:srgbClr val="2E86C1"/>
                </a:solidFill>
              </a:rPr>
              <a:t>Code</a:t>
            </a:r>
          </a:p>
          <a:p>
            <a:pPr/>
            <a:r>
              <a:rPr sz="1600" b="0"/>
              <a:t>• github.com/ymw0414/loan-default-imbalance-classification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