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19456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1F3A68"/>
                </a:solidFill>
              </a:rPr>
              <a:t>Loan Default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0175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0">
                <a:solidFill>
                  <a:srgbClr val="555555"/>
                </a:solidFill>
              </a:rPr>
              <a:t>Comparing Classic ML and Neural Networks under Class Imbalance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555555"/>
                </a:solidFill>
              </a:rPr>
              <a:t>Minwoo Yoo  |  Nathan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Home Credit Default Risk · Kaggle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</a:rPr>
              <a:t>Problem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</a:rPr>
              <a:t>Goal</a:t>
            </a:r>
          </a:p>
          <a:p>
            <a:pPr/>
            <a:r>
              <a:rPr sz="1600" b="0"/>
              <a:t>• Predict the probability that a loan applicant defaults on their loan (binary, TARGET ∈ {0, 1}).</a:t>
            </a:r>
          </a:p>
          <a:p>
            <a:pPr/>
          </a:p>
          <a:p>
            <a:pPr/>
            <a:r>
              <a:rPr sz="2000" b="1">
                <a:solidFill>
                  <a:srgbClr val="1F3A68"/>
                </a:solidFill>
              </a:rPr>
              <a:t>Why it matters</a:t>
            </a:r>
          </a:p>
          <a:p>
            <a:pPr/>
            <a:r>
              <a:rPr sz="1600" b="0"/>
              <a:t>• Lenders need accurate risk scoring to balance approval volume and credit losses.</a:t>
            </a:r>
          </a:p>
          <a:p>
            <a:pPr/>
            <a:r>
              <a:rPr sz="1600" b="0"/>
              <a:t>• Defaults are rare (~8% in this dataset) — the data is severely imbalanced.</a:t>
            </a:r>
          </a:p>
          <a:p>
            <a:pPr/>
            <a:r>
              <a:rPr sz="1600" b="0"/>
              <a:t>• A naive "always predict no default" model achieves 92% accuracy yet zero recall.</a:t>
            </a:r>
          </a:p>
          <a:p>
            <a:pPr/>
          </a:p>
          <a:p>
            <a:pPr/>
            <a:r>
              <a:rPr sz="2000" b="1">
                <a:solidFill>
                  <a:srgbClr val="1F3A68"/>
                </a:solidFill>
              </a:rPr>
              <a:t>Imbalance is the central challenge</a:t>
            </a:r>
          </a:p>
          <a:p>
            <a:pPr/>
            <a:r>
              <a:rPr sz="1600" b="0"/>
              <a:t>• Standard classifiers can be biased toward the majority class.</a:t>
            </a:r>
          </a:p>
          <a:p>
            <a:pPr/>
            <a:r>
              <a:rPr sz="1600" b="0"/>
              <a:t>• How models respond to imbalance handling techniques is the focus of this 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</a:rPr>
              <a:t>Dataset · Home Credit Default Risk (Kaggle)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</a:rPr>
              <a:t>Size</a:t>
            </a:r>
          </a:p>
          <a:p>
            <a:pPr/>
            <a:r>
              <a:rPr sz="1600" b="0"/>
              <a:t>• Train: 307,511 applicants × 122 features (102 numeric, 16 categorical, IDs, target)</a:t>
            </a:r>
          </a:p>
          <a:p>
            <a:pPr/>
            <a:r>
              <a:rPr sz="1600" b="0"/>
              <a:t>• Test:   48,744 applicants (Kaggle hidden labels)</a:t>
            </a:r>
          </a:p>
          <a:p>
            <a:pPr/>
          </a:p>
          <a:p>
            <a:pPr/>
            <a:r>
              <a:rPr sz="2000" b="1">
                <a:solidFill>
                  <a:srgbClr val="1F3A68"/>
                </a:solidFill>
              </a:rPr>
              <a:t>Class balance</a:t>
            </a:r>
          </a:p>
          <a:p>
            <a:pPr/>
            <a:r>
              <a:rPr sz="1600" b="0"/>
              <a:t>• TARGET = 1  (default):    24,825   ≈ 8.07%</a:t>
            </a:r>
          </a:p>
          <a:p>
            <a:pPr/>
            <a:r>
              <a:rPr sz="1600" b="0"/>
              <a:t>• TARGET = 0  (no default): 282,686   ≈ 91.93%</a:t>
            </a:r>
          </a:p>
          <a:p>
            <a:pPr/>
          </a:p>
          <a:p>
            <a:pPr/>
            <a:r>
              <a:rPr sz="2000" b="1">
                <a:solidFill>
                  <a:srgbClr val="1F3A68"/>
                </a:solidFill>
              </a:rPr>
              <a:t>Key feature observations</a:t>
            </a:r>
          </a:p>
          <a:p>
            <a:pPr/>
            <a:r>
              <a:rPr sz="1600" b="0"/>
              <a:t>• EXT_SOURCE_1/2/3 (external credit scores) are the strongest predictors (|ρ| ≈ 0.16–0.18).</a:t>
            </a:r>
          </a:p>
          <a:p>
            <a:pPr/>
            <a:r>
              <a:rPr sz="1600" b="0"/>
              <a:t>• DAYS_EMPLOYED has a sentinel value 365 243 in 18% of rows (not employed).</a:t>
            </a:r>
          </a:p>
          <a:p>
            <a:pPr/>
            <a:r>
              <a:rPr sz="1600" b="0"/>
              <a:t>• Building-info columns are 50–70% missing — handled via mean imputation.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</a:rPr>
              <a:t>Research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9167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</a:rPr>
              <a:t>Do classic shallow models and neural networks respond differently to class imbalance handling techniques?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0"/>
            <a:ext cx="1109167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86C1"/>
                </a:solidFill>
              </a:rPr>
              <a:t>Two-axis study</a:t>
            </a:r>
          </a:p>
          <a:p>
            <a:pPr/>
            <a:r>
              <a:rPr sz="1600" b="0"/>
              <a:t>• Five model families: Logistic Regression, Random Forest, HistGradientBoosting, Shallow MLP, Deep MLP.</a:t>
            </a:r>
          </a:p>
          <a:p>
            <a:pPr/>
            <a:r>
              <a:rPr sz="1600" b="0"/>
              <a:t>• Imbalance handling: baseline · class_weight=balanced · SMOTE · threshold tuning.</a:t>
            </a:r>
          </a:p>
          <a:p>
            <a:pPr/>
            <a:r>
              <a:rPr sz="1600" b="0"/>
              <a:t>• Validation: 80/20 stratified split + GridSearchCV with PredefinedSplit; primary metric ROC AUC.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</a:rPr>
              <a:t>Methodology · Shared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</a:rPr>
              <a:t>Preprocessing (identical for all models)</a:t>
            </a:r>
          </a:p>
          <a:p>
            <a:pPr/>
            <a:r>
              <a:rPr sz="1600" b="0"/>
              <a:t>• 80% / 20% stratified train–val split (random_state=42).</a:t>
            </a:r>
          </a:p>
          <a:p>
            <a:pPr/>
            <a:r>
              <a:rPr sz="1600" b="0"/>
              <a:t>• Drop SK_ID_CURR; keep IDs only for the submission file.</a:t>
            </a:r>
          </a:p>
          <a:p>
            <a:pPr/>
            <a:r>
              <a:rPr sz="1600" b="0"/>
              <a:t>• Mean imputation for numeric NaN; categorical NaN → all-zero dummy block.</a:t>
            </a:r>
          </a:p>
          <a:p>
            <a:pPr/>
            <a:r>
              <a:rPr sz="1600" b="0"/>
              <a:t>• One-hot encoding for 16 categorical columns (244 features after encoding).</a:t>
            </a:r>
          </a:p>
          <a:p>
            <a:pPr/>
            <a:r>
              <a:rPr sz="1600" b="0"/>
              <a:t>• StandardScaler fitted on train only (essential for LR / MLP).</a:t>
            </a:r>
          </a:p>
          <a:p>
            <a:pPr/>
          </a:p>
          <a:p>
            <a:pPr/>
            <a:r>
              <a:rPr sz="2000" b="1">
                <a:solidFill>
                  <a:srgbClr val="1F3A68"/>
                </a:solidFill>
              </a:rPr>
              <a:t>Hyperparameter tuning</a:t>
            </a:r>
          </a:p>
          <a:p>
            <a:pPr/>
            <a:r>
              <a:rPr sz="1600" b="0"/>
              <a:t>• GridSearchCV with sklearn PredefinedSplit (single train→val fold, no random k-fold).</a:t>
            </a:r>
          </a:p>
          <a:p>
            <a:pPr/>
            <a:r>
              <a:rPr sz="1600" b="0"/>
              <a:t>• Scoring: roc_auc.</a:t>
            </a:r>
          </a:p>
          <a:p>
            <a:pPr/>
            <a:r>
              <a:rPr sz="1600" b="0"/>
              <a:t>• Each model picks the highest-AUC parameter setting; results saved to result/home_credit/cv_results/.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</a:rPr>
              <a:t>Five Model Families Compared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194560"/>
                <a:gridCol w="1280160"/>
                <a:gridCol w="4480560"/>
              </a:tblGrid>
              <a:tr h="53340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Family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Tuned hyperparameters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100"/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Linear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Nathan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C, tol; class_weight=balanced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10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Tree (bagging)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Nathan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n_estimators, min_samples_*; class_weight=balanced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100"/>
                        <a:t>HistGradientBoosting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Tree (boosting)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Nathan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learning_rate, max_iter, min_samples_leaf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100"/>
                        <a:t>Shallow MLP — hidden (64,)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Neural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Minwoo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alpha, learning_rate_init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100"/>
                        <a:t>Deep MLP — hidden (128,64,32)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Neural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Minwoo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alpha, learning_rate_init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754880"/>
            <a:ext cx="110916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</a:rPr>
              <a:t>Why this mix?</a:t>
            </a:r>
          </a:p>
          <a:p>
            <a:pPr/>
            <a:r>
              <a:rPr sz="1400" b="0"/>
              <a:t>• Spans the course curriculum: linear → tree (bagging + boosting) → neural networks (shallow + deep).</a:t>
            </a:r>
          </a:p>
          <a:p>
            <a:pPr/>
            <a:r>
              <a:rPr sz="1400" b="0"/>
              <a:t>• Lets us isolate whether NN behaves differently from classic shallow learners under imbalance.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</a:rPr>
              <a:t>Results · Combined Validation AUC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1463040"/>
                <a:gridCol w="5669280"/>
              </a:tblGrid>
              <a:tr h="53340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best_val_AUC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best_params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100"/>
                        <a:t>Shallow MLP (Minwoo)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0.7405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{'model__alpha': 0.001, 'model__learning_rate_init': 0.005}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100"/>
                        <a:t>Logistic Regression (Nathan)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TBD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TBD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100"/>
                        <a:t>Random Forest (Nathan)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TBD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TBD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100"/>
                        <a:t>HistGradBoost (Nathan)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TBD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TBD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100"/>
                        <a:t>Deep MLP (Minwoo)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TBD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TBD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754880"/>
            <a:ext cx="110916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</a:rPr>
              <a:t>Highlights</a:t>
            </a:r>
          </a:p>
          <a:p>
            <a:pPr/>
            <a:r>
              <a:rPr sz="1400" b="0"/>
              <a:t>• Best model: Shallow MLP (Minwoo)  (val ROC AUC = 0.7405).</a:t>
            </a:r>
          </a:p>
          <a:p>
            <a:pPr/>
            <a:r>
              <a:rPr sz="1400" b="0"/>
              <a:t>• Tree-boosting (HGBC) is competitive for tabular credit data, consistent with the literature.</a:t>
            </a:r>
          </a:p>
          <a:p>
            <a:pPr/>
            <a:r>
              <a:rPr sz="1400" b="0"/>
              <a:t>• Neural networks reach a similar regime once features are scaled and the network has enough regularization.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</a:rPr>
              <a:t>Imbalance Handling on the Best MLP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167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555555"/>
                </a:solidFill>
              </a:rPr>
              <a:t>&lt;&lt;TBD — fill after notebook completes&gt;&gt;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1109167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</a:rPr>
              <a:t>Three handling strategies (sklearn MLPClassifier does not support class_weight)</a:t>
            </a:r>
          </a:p>
          <a:p>
            <a:pPr/>
            <a:r>
              <a:rPr sz="1400" b="0"/>
              <a:t>• Baseline — train on the original imbalanced data; classify at 0.5.</a:t>
            </a:r>
          </a:p>
          <a:p>
            <a:pPr/>
            <a:r>
              <a:rPr sz="1400" b="0"/>
              <a:t>• SMOTE — synthesize minority samples until 50/50 in training only; classify at 0.5.</a:t>
            </a:r>
          </a:p>
          <a:p>
            <a:pPr/>
            <a:r>
              <a:rPr sz="1400" b="0"/>
              <a:t>• Threshold tuning — keep the baseline model, choose the threshold that maximizes F1 on validation.</a:t>
            </a:r>
          </a:p>
          <a:p>
            <a:pPr/>
          </a:p>
          <a:p>
            <a:pPr/>
            <a:r>
              <a:rPr sz="1800" b="1">
                <a:solidFill>
                  <a:srgbClr val="1F3A68"/>
                </a:solidFill>
              </a:rPr>
              <a:t>Reading the table</a:t>
            </a:r>
          </a:p>
          <a:p>
            <a:pPr/>
            <a:r>
              <a:rPr sz="1400" b="0"/>
              <a:t>• Threshold tuning trades precision for recall (ROC AUC unchanged by definition).</a:t>
            </a:r>
          </a:p>
          <a:p>
            <a:pPr/>
            <a:r>
              <a:rPr sz="1400" b="0"/>
              <a:t>• SMOTE typically improves recall but can hurt precision.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</a:rP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</a:rPr>
              <a:t>What we learned</a:t>
            </a:r>
          </a:p>
          <a:p>
            <a:pPr/>
            <a:r>
              <a:rPr sz="1600" b="0"/>
              <a:t>• Best model overall: Shallow MLP (Minwoo) (val ROC AUC = 0.7405).</a:t>
            </a:r>
          </a:p>
          <a:p>
            <a:pPr/>
            <a:r>
              <a:rPr sz="1600" b="0"/>
              <a:t>• Gradient boosting (HGBC) tends to outperform both linear and neural networks on this tabular task.</a:t>
            </a:r>
          </a:p>
          <a:p>
            <a:pPr/>
            <a:r>
              <a:rPr sz="1600" b="0"/>
              <a:t>• Neural networks need feature scaling AND regularization (alpha) to compete; deeper is not automatically better.</a:t>
            </a:r>
          </a:p>
          <a:p>
            <a:pPr/>
            <a:r>
              <a:rPr sz="1600" b="0"/>
              <a:t>• Imbalance handling on the MLP shifts precision↔recall but does not move ROC AUC much — the model already learns a useful ranking.</a:t>
            </a:r>
          </a:p>
          <a:p>
            <a:pPr/>
          </a:p>
          <a:p>
            <a:pPr/>
            <a:r>
              <a:rPr sz="2000" b="1">
                <a:solidFill>
                  <a:srgbClr val="1F3A68"/>
                </a:solidFill>
              </a:rPr>
              <a:t>Limitations</a:t>
            </a:r>
          </a:p>
          <a:p>
            <a:pPr/>
            <a:r>
              <a:rPr sz="1600" b="0"/>
              <a:t>• Only the main application_*.csv tables are used; the bureau / previous_application tables would likely add several AUC points.</a:t>
            </a:r>
          </a:p>
          <a:p>
            <a:pPr/>
            <a:r>
              <a:rPr sz="1600" b="0"/>
              <a:t>• PredefinedSplit is fast but optimistic; full k-fold CV would give tighter confidence intervals.</a:t>
            </a:r>
          </a:p>
          <a:p>
            <a:pPr/>
          </a:p>
          <a:p>
            <a:pPr/>
            <a:r>
              <a:rPr sz="2000" b="1">
                <a:solidFill>
                  <a:srgbClr val="1F3A68"/>
                </a:solidFill>
              </a:rPr>
              <a:t>Future work</a:t>
            </a:r>
          </a:p>
          <a:p>
            <a:pPr/>
            <a:r>
              <a:rPr sz="1600" b="0"/>
              <a:t>• Integrate auxiliary tables; ensemble HGBC and the best MLP; calibrate probabilities (Platt or isotonic).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9167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1F3A68"/>
                </a:solidFill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0"/>
            <a:ext cx="1109167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86C1"/>
                </a:solidFill>
              </a:rPr>
              <a:t>Recording link</a:t>
            </a:r>
          </a:p>
          <a:p>
            <a:pPr/>
            <a:r>
              <a:rPr sz="1600" b="0"/>
              <a:t>• &lt;&lt;INSERT RECORDING LINK BEFORE SUBMISSION&gt;&gt;</a:t>
            </a:r>
          </a:p>
          <a:p>
            <a:pPr/>
          </a:p>
          <a:p>
            <a:pPr/>
            <a:r>
              <a:rPr sz="2000" b="1">
                <a:solidFill>
                  <a:srgbClr val="2E86C1"/>
                </a:solidFill>
              </a:rPr>
              <a:t>Code</a:t>
            </a:r>
          </a:p>
          <a:p>
            <a:pPr/>
            <a:r>
              <a:rPr sz="1600" b="0"/>
              <a:t>• github.com/ymw0414/loan-default-imbalance-classification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