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Loan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ABC9C"/>
                </a:solidFill>
              </a:rP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AFAFA"/>
                </a:solidFill>
              </a:rPr>
              <a:t>Comparing Classic ML and Neural Networks under Class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AFAFA"/>
                </a:solidFill>
              </a:rPr>
              <a:t>Minwoo Yoo · Nathan      |      Home Credit Default Risk · Kaggle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this problem?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Minwoo · 1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ABC9C"/>
                </a:solidFill>
              </a:rPr>
              <a:t>8.07%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of applicants actually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74C3C"/>
                </a:solidFill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recall at 0.5 threshold (baseline MLP)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</a:rPr>
              <a:t>Lenders need to rank applicants by default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C3E50"/>
                </a:solidFill>
              </a:rPr>
              <a:t>• Imbalance: 92% non-default vs 8% default</a:t>
            </a:r>
          </a:p>
          <a:p>
            <a:r>
              <a:rPr sz="1400">
                <a:solidFill>
                  <a:srgbClr val="2C3E50"/>
                </a:solidFill>
              </a:rPr>
              <a:t>• "Always predict 0" → 92% accuracy, 0 recall — useless</a:t>
            </a:r>
          </a:p>
          <a:p>
            <a:r>
              <a:rPr sz="1400">
                <a:solidFill>
                  <a:srgbClr val="2C3E50"/>
                </a:solidFill>
              </a:rPr>
              <a:t>• Even a model with ROC AUC = 0.745 can classify 0 defaulters</a:t>
            </a:r>
          </a:p>
          <a:p>
            <a:r>
              <a:rPr sz="1400">
                <a:solidFill>
                  <a:srgbClr val="2C3E50"/>
                </a:solidFill>
              </a:rPr>
              <a:t>  if every prediction sits below 0.5</a:t>
            </a:r>
          </a:p>
          <a:p/>
          <a:p>
            <a:r>
              <a:rPr sz="1400">
                <a:solidFill>
                  <a:srgbClr val="2C3E50"/>
                </a:solidFill>
              </a:rPr>
              <a:t>Research question: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F39C12"/>
                </a:solidFill>
              </a:rPr>
              <a:t>Do classic shallow learners and NNs respond differently to imbalance handling?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· Home Credit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Minwoo · 1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ABC9C"/>
                </a:solidFill>
              </a:rPr>
              <a:t>307K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applicants in 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39C12"/>
                </a:solidFill>
              </a:rPr>
              <a:t>244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features after one-hot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74C3C"/>
                </a:solidFill>
              </a:rPr>
              <a:t>8.07%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positive class</a:t>
            </a:r>
          </a:p>
        </p:txBody>
      </p:sp>
      <p:pic>
        <p:nvPicPr>
          <p:cNvPr id="12" name="Picture 11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6400800" cy="34170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</a:rPr>
              <a:t>Strongest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389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3E50"/>
                </a:solidFill>
              </a:rPr>
              <a:t>EXT_SOURCE_1/2/3 (external credit scores)</a:t>
            </a:r>
          </a:p>
          <a:p>
            <a:r>
              <a:rPr sz="1300">
                <a:solidFill>
                  <a:srgbClr val="2C3E50"/>
                </a:solidFill>
              </a:rPr>
              <a:t>DAYS_EMPLOYED 365,243 = unemployed flag</a:t>
            </a:r>
          </a:p>
          <a:p>
            <a:r>
              <a:rPr sz="1300">
                <a:solidFill>
                  <a:srgbClr val="2C3E50"/>
                </a:solidFill>
              </a:rPr>
              <a:t>Building-info columns 50–70% missing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Shared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Nathan · 1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027" y="2011680"/>
            <a:ext cx="1691640" cy="22860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027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30175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80% / 20%</a:t>
            </a:r>
          </a:p>
          <a:p>
            <a:r>
              <a:t>stratified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6827" y="2011680"/>
            <a:ext cx="1691640" cy="22860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6827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Drop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6827" y="30175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remove</a:t>
            </a:r>
          </a:p>
          <a:p>
            <a:r>
              <a:t>SK_ID_CURR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5627" y="2011680"/>
            <a:ext cx="1691640" cy="22860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5627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5627" y="30175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mean for</a:t>
            </a:r>
          </a:p>
          <a:p>
            <a:r>
              <a:t>numeric NaN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427" y="2011680"/>
            <a:ext cx="1691640" cy="228600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4427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Encode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4427" y="30175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one-hot →</a:t>
            </a:r>
          </a:p>
          <a:p>
            <a:r>
              <a:t>244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227" y="2011680"/>
            <a:ext cx="1691640" cy="228600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3227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3227" y="30175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StandardScaler</a:t>
            </a:r>
          </a:p>
          <a:p>
            <a:r>
              <a:t>on train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2027" y="2011680"/>
            <a:ext cx="1691640" cy="22860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2027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2027" y="30175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GridSearchCV</a:t>
            </a:r>
          </a:p>
          <a:p>
            <a:r>
              <a:t>ROC 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</a:rPr>
              <a:t>Same preprocessing for all five models — fair comparison.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0"/>
                </a:solidFill>
              </a:rPr>
              <a:t>PredefinedSplit (single train→val fold) · scoring = roc_auc · seed =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Five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Nathan · 1.5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1828800"/>
            <a:ext cx="2194560" cy="31089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127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127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127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by Nathan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6847" y="1828800"/>
            <a:ext cx="2194560" cy="31089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6847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847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Tree (bagging)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847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by Nathan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8567" y="1828800"/>
            <a:ext cx="2194560" cy="31089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HistGradBoost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Tree (boosting)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8567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by Nathan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0287" y="1828800"/>
            <a:ext cx="2194560" cy="31089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0287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Shallow MLP (64,)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287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0287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by Minwoo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828800"/>
            <a:ext cx="2194560" cy="31089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2007" y="2103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Deep MLP (128, 64, 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2007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Neural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007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by Minwoo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6570"/>
                </a:solidFill>
              </a:rPr>
              <a:t>Spans the curriculum: linear → tree (bagging + boosting) → shallow + deep NN.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Combined ROC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Nathan · 1 min</a:t>
            </a:r>
          </a:p>
        </p:txBody>
      </p:sp>
      <p:pic>
        <p:nvPicPr>
          <p:cNvPr id="6" name="Picture 5" descr="model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36428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4630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ABC9C"/>
                </a:solidFill>
              </a:rPr>
              <a:t>0.7595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HistGradBoost (Nathan)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0233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3E50"/>
                </a:solidFill>
              </a:rPr>
              <a:t>Tree boosting wins by ~1 AUC point</a:t>
            </a:r>
          </a:p>
          <a:p>
            <a:r>
              <a:rPr sz="1300">
                <a:solidFill>
                  <a:srgbClr val="2C3E50"/>
                </a:solidFill>
              </a:rPr>
              <a:t>Consistent with literature on tabular</a:t>
            </a:r>
          </a:p>
          <a:p>
            <a:r>
              <a:rPr sz="1300">
                <a:solidFill>
                  <a:srgbClr val="2C3E50"/>
                </a:solidFill>
              </a:rPr>
              <a:t>NN ties LR &amp; RF — not the model, the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Neural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Minwoo · 1.5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03520" cy="36576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Shallow 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(64,)  ·  ~15.7K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0.7405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val ROC 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03520" cy="36576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Deep MLP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(128, 64, 32)  ·  ~42K params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0.7416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val ROC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3E50"/>
                </a:solidFill>
              </a:rPr>
              <a:t>+0.001 with 3× the parameters → depth alone does not help on this tabular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6570"/>
                </a:solidFill>
              </a:rPr>
              <a:t>Best for both: alpha = 1e-3, learning_rate_init = 0.005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Imbalance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384048"/>
            <a:ext cx="22860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Minwoo · 1.5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57600" cy="3383280"/>
          </a:xfrm>
          <a:prstGeom prst="rect">
            <a:avLst/>
          </a:prstGeom>
          <a:solidFill>
            <a:srgbClr val="5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recall @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AUC 0.745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657600" cy="33832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SMOTE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0.648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91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AUC dropped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recall 21%, F1 0.18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657600" cy="33832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Threshold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0"/>
                </a:solidFill>
              </a:rPr>
              <a:t>recall @ 0.164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AUC 0.745, F1 0.30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Choosing the threshold matters more than rebalancing the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0"/>
                </a:solidFill>
              </a:rPr>
              <a:t>Same model, different decision rule — recall jumps from 0% to 40%.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914400" cy="54864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57600" cy="329184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Tree boosting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HistGradBoost (Nathan) at 0.7595 val AUC.</a:t>
            </a:r>
          </a:p>
          <a:p>
            <a:r>
              <a:t>Tabular data favors GBT over NN.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657600" cy="32918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Threshold &gt; resampling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832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On the MLP, threshold tuning lifted recall</a:t>
            </a:r>
          </a:p>
          <a:p>
            <a:r>
              <a:t>from 0% to 40% — SMOTE hurt AUC.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011680"/>
            <a:ext cx="3657600" cy="32918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Depth ≈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Shallow vs Deep MLP differ by 0.001 AUC.</a:t>
            </a:r>
          </a:p>
          <a:p>
            <a:r>
              <a:t>Features are the bottleneck.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AFAFA"/>
                </a:solidFill>
              </a:rPr>
              <a:t>Limitations: only main tables (auxiliary tables → +2–3 AUC pts) · single split CV.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BC9C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Recording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&lt;&lt;INSERT RECORDING LINK BEFORE SUBMISSION&gt;&gt;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657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114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github.com/ymw0414/loan-default-imbalance-classification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577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Minwoo Yoo · Nathan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